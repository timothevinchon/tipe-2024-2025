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Roboto-bold.fntdata"/><Relationship Id="rId10" Type="http://schemas.openxmlformats.org/officeDocument/2006/relationships/slide" Target="slides/slide5.xml"/><Relationship Id="rId21" Type="http://schemas.openxmlformats.org/officeDocument/2006/relationships/font" Target="fonts/Roboto-regular.fntdata"/><Relationship Id="rId13" Type="http://schemas.openxmlformats.org/officeDocument/2006/relationships/slide" Target="slides/slide8.xml"/><Relationship Id="rId24" Type="http://schemas.openxmlformats.org/officeDocument/2006/relationships/font" Target="fonts/Roboto-boldItalic.fntdata"/><Relationship Id="rId12" Type="http://schemas.openxmlformats.org/officeDocument/2006/relationships/slide" Target="slides/slide7.xml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141f632938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141f632938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29fac3342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29fac3342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13da0e0e20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13da0e0e20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2a0638307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2a0638307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13da0e0e20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13da0e0e20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29fac3342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29fac3342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279a23653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279a23653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3ea75d6a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3ea75d6a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13ea75d6a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13ea75d6a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1412256f0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1412256f0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13da0e0e20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13da0e0e20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279a23653c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279a23653c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279a23653c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279a23653c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13da0e0e20_0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13da0e0e20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311700" y="595975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Introduction du sujet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460938" y="1602988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fr" sz="1683"/>
              <a:t>Recharge par induction dynamique des  véhicules électriques</a:t>
            </a:r>
            <a:endParaRPr sz="1683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1683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1683"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8175" y="1945638"/>
            <a:ext cx="4202166" cy="280281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900"/>
              <a:t>‹#›</a:t>
            </a:fld>
            <a:endParaRPr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ctrTitle"/>
          </p:nvPr>
        </p:nvSpPr>
        <p:spPr>
          <a:xfrm>
            <a:off x="311700" y="595975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MCOT</a:t>
            </a:r>
            <a:endParaRPr/>
          </a:p>
        </p:txBody>
      </p:sp>
      <p:sp>
        <p:nvSpPr>
          <p:cNvPr id="94" name="Google Shape;94;p1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95" name="Google Shape;9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9563" y="1329463"/>
            <a:ext cx="6248400" cy="328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ctrTitle"/>
          </p:nvPr>
        </p:nvSpPr>
        <p:spPr>
          <a:xfrm>
            <a:off x="311700" y="595975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MCOT</a:t>
            </a:r>
            <a:endParaRPr/>
          </a:p>
        </p:txBody>
      </p:sp>
      <p:sp>
        <p:nvSpPr>
          <p:cNvPr id="101" name="Google Shape;101;p1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02" name="Google Shape;10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2325" y="1897525"/>
            <a:ext cx="6562725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ctrTitle"/>
          </p:nvPr>
        </p:nvSpPr>
        <p:spPr>
          <a:xfrm>
            <a:off x="311700" y="595975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</a:t>
            </a:r>
            <a:r>
              <a:rPr lang="fr"/>
              <a:t>echerches existantes</a:t>
            </a:r>
            <a:endParaRPr/>
          </a:p>
        </p:txBody>
      </p:sp>
      <p:sp>
        <p:nvSpPr>
          <p:cNvPr id="108" name="Google Shape;108;p16"/>
          <p:cNvSpPr txBox="1"/>
          <p:nvPr>
            <p:ph idx="1" type="subTitle"/>
          </p:nvPr>
        </p:nvSpPr>
        <p:spPr>
          <a:xfrm>
            <a:off x="222113" y="1693238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fr" sz="1425"/>
              <a:t>|1| :  Thèse de Achraf Hammoud : La charge par induction de véhicules électriques : https://theses.hal.science/tel-01967966/ </a:t>
            </a:r>
            <a:endParaRPr sz="142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fr" sz="1425"/>
              <a:t>|2| : Institut français de Transition Energétique dédié aux mobilités de la route : Induction dynamique : https://www.vedecom.fr/la-recharge-des-vehicules-electriques-par-induction-en-roulant/</a:t>
            </a:r>
            <a:endParaRPr sz="142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fr" sz="1425"/>
              <a:t>|3| : Izi par EDF : Recharge de voiture électrique par induction : </a:t>
            </a:r>
            <a:endParaRPr sz="142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fr" sz="1425"/>
              <a:t>https://izi-by-edf.fr/blog/recharge-voiture-electrique-induction/</a:t>
            </a:r>
            <a:endParaRPr sz="142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fr" sz="1425"/>
              <a:t>|4| : Eva Gomez (Journaliste spécialisée dans la transition écologique et la mobilité durable) : </a:t>
            </a:r>
            <a:endParaRPr sz="142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fr" sz="1425"/>
              <a:t>https://media.roole.fr/transition/voiture-propre/voitures-electriques-une-route-de-recharge-par-induction-est-testee-a-paris</a:t>
            </a:r>
            <a:endParaRPr sz="142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fr" sz="1425"/>
              <a:t>|5| : Paris Presse : Projet INCIT-EV</a:t>
            </a:r>
            <a:endParaRPr sz="142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fr" sz="1425"/>
              <a:t>https://presse.paris.fr/pages/21226</a:t>
            </a:r>
            <a:endParaRPr sz="142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fr" sz="1425"/>
              <a:t>|6| : MDPI : Test sur Recharge par induction dynamique</a:t>
            </a:r>
            <a:endParaRPr sz="142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fr" sz="1425"/>
              <a:t>https://www.mdpi.com/1996-1073/15/15/5613</a:t>
            </a:r>
            <a:endParaRPr sz="142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42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425"/>
          </a:p>
        </p:txBody>
      </p:sp>
      <p:sp>
        <p:nvSpPr>
          <p:cNvPr id="109" name="Google Shape;109;p1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ctrTitle"/>
          </p:nvPr>
        </p:nvSpPr>
        <p:spPr>
          <a:xfrm>
            <a:off x="717750" y="1558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Projet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Récent</a:t>
            </a:r>
            <a:endParaRPr/>
          </a:p>
        </p:txBody>
      </p:sp>
      <p:sp>
        <p:nvSpPr>
          <p:cNvPr id="115" name="Google Shape;115;p1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16" name="Google Shape;116;p17"/>
          <p:cNvPicPr preferRelativeResize="0"/>
          <p:nvPr/>
        </p:nvPicPr>
        <p:blipFill rotWithShape="1">
          <a:blip r:embed="rId3">
            <a:alphaModFix/>
          </a:blip>
          <a:srcRect b="15205" l="0" r="0" t="20174"/>
          <a:stretch/>
        </p:blipFill>
        <p:spPr>
          <a:xfrm>
            <a:off x="4466700" y="32362"/>
            <a:ext cx="3621375" cy="507877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 txBox="1"/>
          <p:nvPr/>
        </p:nvSpPr>
        <p:spPr>
          <a:xfrm>
            <a:off x="481200" y="3451800"/>
            <a:ext cx="8181600" cy="11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« Charge as you drive »</a:t>
            </a:r>
            <a:endParaRPr b="1" sz="2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3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ctrTitle"/>
          </p:nvPr>
        </p:nvSpPr>
        <p:spPr>
          <a:xfrm>
            <a:off x="311700" y="595975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Hypothèses et Modélisation</a:t>
            </a:r>
            <a:endParaRPr/>
          </a:p>
        </p:txBody>
      </p:sp>
      <p:sp>
        <p:nvSpPr>
          <p:cNvPr id="123" name="Google Shape;123;p18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100" y="1615954"/>
            <a:ext cx="8222099" cy="263283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ctrTitle"/>
          </p:nvPr>
        </p:nvSpPr>
        <p:spPr>
          <a:xfrm>
            <a:off x="311700" y="595975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Hypothèses et Modélisation</a:t>
            </a:r>
            <a:endParaRPr/>
          </a:p>
        </p:txBody>
      </p:sp>
      <p:sp>
        <p:nvSpPr>
          <p:cNvPr id="131" name="Google Shape;131;p19"/>
          <p:cNvSpPr txBox="1"/>
          <p:nvPr>
            <p:ph idx="1" type="subTitle"/>
          </p:nvPr>
        </p:nvSpPr>
        <p:spPr>
          <a:xfrm>
            <a:off x="5170725" y="2715925"/>
            <a:ext cx="3649500" cy="20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33" name="Google Shape;13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7000" y="1427725"/>
            <a:ext cx="4680920" cy="350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9"/>
          <p:cNvPicPr preferRelativeResize="0"/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3418950" y="1470775"/>
            <a:ext cx="236498" cy="156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ctrTitle"/>
          </p:nvPr>
        </p:nvSpPr>
        <p:spPr>
          <a:xfrm>
            <a:off x="598100" y="350275"/>
            <a:ext cx="2766000" cy="8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2980"/>
              <a:t>Ajout d’un condensateur</a:t>
            </a:r>
            <a:endParaRPr sz="2980"/>
          </a:p>
        </p:txBody>
      </p:sp>
      <p:sp>
        <p:nvSpPr>
          <p:cNvPr id="140" name="Google Shape;140;p20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42" name="Google Shape;14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175" y="1202875"/>
            <a:ext cx="2179699" cy="3585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1900" y="1191947"/>
            <a:ext cx="2179699" cy="3607277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0"/>
          <p:cNvSpPr txBox="1"/>
          <p:nvPr/>
        </p:nvSpPr>
        <p:spPr>
          <a:xfrm>
            <a:off x="5466350" y="179375"/>
            <a:ext cx="22308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6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Puis d’un pont de diode</a:t>
            </a:r>
            <a:endParaRPr sz="265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/>
          <p:nvPr>
            <p:ph type="ctrTitle"/>
          </p:nvPr>
        </p:nvSpPr>
        <p:spPr>
          <a:xfrm>
            <a:off x="598100" y="6044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Mise en place de l'expérience</a:t>
            </a:r>
            <a:endParaRPr/>
          </a:p>
        </p:txBody>
      </p:sp>
      <p:sp>
        <p:nvSpPr>
          <p:cNvPr id="150" name="Google Shape;150;p21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52" name="Google Shape;152;p21"/>
          <p:cNvPicPr preferRelativeResize="0"/>
          <p:nvPr/>
        </p:nvPicPr>
        <p:blipFill rotWithShape="1">
          <a:blip r:embed="rId3">
            <a:alphaModFix amt="18000"/>
          </a:blip>
          <a:srcRect b="-5065" l="-35145" r="11916" t="-18164"/>
          <a:stretch/>
        </p:blipFill>
        <p:spPr>
          <a:xfrm rot="10800000">
            <a:off x="7131700" y="1909500"/>
            <a:ext cx="295200" cy="29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5104" y="1443225"/>
            <a:ext cx="2592875" cy="345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1997" y="1291825"/>
            <a:ext cx="2819850" cy="3761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/>
          <p:nvPr>
            <p:ph type="ctrTitle"/>
          </p:nvPr>
        </p:nvSpPr>
        <p:spPr>
          <a:xfrm>
            <a:off x="598100" y="6044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Mise en place de l'expérience</a:t>
            </a:r>
            <a:endParaRPr/>
          </a:p>
        </p:txBody>
      </p:sp>
      <p:sp>
        <p:nvSpPr>
          <p:cNvPr id="160" name="Google Shape;160;p2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6738" y="1377099"/>
            <a:ext cx="4730516" cy="3547876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/>
          <p:nvPr>
            <p:ph type="ctrTitle"/>
          </p:nvPr>
        </p:nvSpPr>
        <p:spPr>
          <a:xfrm>
            <a:off x="598100" y="6044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Mise en place de l'expérience</a:t>
            </a:r>
            <a:endParaRPr/>
          </a:p>
        </p:txBody>
      </p:sp>
      <p:sp>
        <p:nvSpPr>
          <p:cNvPr id="168" name="Google Shape;168;p2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9" name="Google Shape;16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32850"/>
            <a:ext cx="8466375" cy="335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/>
          <p:nvPr>
            <p:ph type="ctrTitle"/>
          </p:nvPr>
        </p:nvSpPr>
        <p:spPr>
          <a:xfrm>
            <a:off x="311700" y="595975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Résultats préliminaires</a:t>
            </a:r>
            <a:endParaRPr/>
          </a:p>
        </p:txBody>
      </p:sp>
      <p:sp>
        <p:nvSpPr>
          <p:cNvPr id="176" name="Google Shape;176;p24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00" y="1588050"/>
            <a:ext cx="8222102" cy="284247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5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86" name="Google Shape;18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4400" y="1353400"/>
            <a:ext cx="5755399" cy="2896176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5"/>
          <p:cNvSpPr txBox="1"/>
          <p:nvPr/>
        </p:nvSpPr>
        <p:spPr>
          <a:xfrm>
            <a:off x="1400475" y="426300"/>
            <a:ext cx="67818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Résultat de la puissance moyenne</a:t>
            </a:r>
            <a:endParaRPr sz="3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6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95" name="Google Shape;19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325" y="1726800"/>
            <a:ext cx="3926626" cy="264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7175" y="1775225"/>
            <a:ext cx="4320891" cy="2597801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6"/>
          <p:cNvSpPr txBox="1"/>
          <p:nvPr/>
        </p:nvSpPr>
        <p:spPr>
          <a:xfrm>
            <a:off x="270175" y="337400"/>
            <a:ext cx="38619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Sans pont de diode</a:t>
            </a:r>
            <a:endParaRPr sz="3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26"/>
          <p:cNvSpPr txBox="1"/>
          <p:nvPr/>
        </p:nvSpPr>
        <p:spPr>
          <a:xfrm>
            <a:off x="4372275" y="350100"/>
            <a:ext cx="43209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Avec pont de diode</a:t>
            </a:r>
            <a:endParaRPr sz="3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/>
          <p:nvPr>
            <p:ph type="ctrTitle"/>
          </p:nvPr>
        </p:nvSpPr>
        <p:spPr>
          <a:xfrm>
            <a:off x="311700" y="595975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Prochaines étapes</a:t>
            </a:r>
            <a:endParaRPr/>
          </a:p>
        </p:txBody>
      </p:sp>
      <p:sp>
        <p:nvSpPr>
          <p:cNvPr id="204" name="Google Shape;204;p27"/>
          <p:cNvSpPr txBox="1"/>
          <p:nvPr>
            <p:ph idx="1" type="subTitle"/>
          </p:nvPr>
        </p:nvSpPr>
        <p:spPr>
          <a:xfrm>
            <a:off x="537625" y="1748355"/>
            <a:ext cx="8222100" cy="24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fr"/>
              <a:t>Contacter vedecom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44"/>
              <a:t>Institut pour la Transition Énergétique (ITE) mis en place dans le cadre du </a:t>
            </a:r>
            <a:endParaRPr sz="744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44"/>
              <a:t>Programme d’Investissements d’Avenir (PIA) du Gouvernement Français, </a:t>
            </a:r>
            <a:endParaRPr sz="744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44"/>
              <a:t>dédié à la mobilité individuelle, décarbonée et durable.</a:t>
            </a:r>
            <a:endParaRPr sz="744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44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fr"/>
              <a:t>Réaliser</a:t>
            </a:r>
            <a:r>
              <a:rPr lang="fr"/>
              <a:t> la partie </a:t>
            </a:r>
            <a:r>
              <a:rPr lang="fr"/>
              <a:t>théorique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de notre </a:t>
            </a:r>
            <a:r>
              <a:rPr lang="fr"/>
              <a:t>problème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fr"/>
              <a:t>Réaliser SQL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fr"/>
              <a:t>Réaliser maquette déplacement horizontal</a:t>
            </a:r>
            <a:endParaRPr/>
          </a:p>
        </p:txBody>
      </p:sp>
      <p:pic>
        <p:nvPicPr>
          <p:cNvPr id="205" name="Google Shape;20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6900" y="1420026"/>
            <a:ext cx="3777949" cy="1814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